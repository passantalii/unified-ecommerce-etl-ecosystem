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 Bold" charset="1" panose="00000000000000000000"/>
      <p:regular r:id="rId18"/>
    </p:embeddedFont>
    <p:embeddedFont>
      <p:font typeface="Inclusive Sans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Noto Sans" charset="1" panose="020B05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github.com/Passantalii/unified-ecommerce-etl-ecosystem" TargetMode="External" Type="http://schemas.openxmlformats.org/officeDocument/2006/relationships/hyperlink"/><Relationship Id="rId7" Target="../media/image5.jpe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kaggle.com/datasets/naelaqel/synthetic-e-commerce-relational-dataset" TargetMode="External" Type="http://schemas.openxmlformats.org/officeDocument/2006/relationships/hyperlink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3.png" Type="http://schemas.openxmlformats.org/officeDocument/2006/relationships/image"/><Relationship Id="rId9" Target="https://github.com/Passantalii/unified-ecommerce-etl-ecosystem/blob/main/system-design/architecture-map.md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4.png" Type="http://schemas.openxmlformats.org/officeDocument/2006/relationships/image"/><Relationship Id="rId9" Target="https://github.com/Passantalii/unified-ecommerce-etl-ecosystem/blob/main/system-design/sequence-diagram.md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5.png" Type="http://schemas.openxmlformats.org/officeDocument/2006/relationships/image"/><Relationship Id="rId9" Target="https://github.com/Passantalii/unified-ecommerce-etl-ecosystem/blob/main/system-design/data_model.md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19.png" Type="http://schemas.openxmlformats.org/officeDocument/2006/relationships/image"/><Relationship Id="rId9" Target="https://ecom-ftbhapetddcwdhb8.swedencentral-01.azurewebsites.net/api/dashboard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github.com/Passantalii/unified-ecommerce-etl-ecosystem" TargetMode="External" Type="http://schemas.openxmlformats.org/officeDocument/2006/relationships/hyperlink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688802" y="4113443"/>
            <a:ext cx="10910396" cy="205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5"/>
              </a:lnSpc>
            </a:pPr>
            <a:r>
              <a:rPr lang="en-US" b="true" sz="8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Unified E-Commerce ETL Ecosystem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14102" y="6690390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b="true" sz="3281" u="sng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  <a:hlinkClick r:id="rId6" tooltip="https://github.com/Passantalii/unified-ecommerce-etl-ecosystem"/>
              </a:rPr>
              <a:t>Project Link 🔗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89459" y="7188043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-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66207" y="1970343"/>
            <a:ext cx="740335" cy="740335"/>
          </a:xfrm>
          <a:custGeom>
            <a:avLst/>
            <a:gdLst/>
            <a:ahLst/>
            <a:cxnLst/>
            <a:rect r="r" b="b" t="t" l="l"/>
            <a:pathLst>
              <a:path h="740335" w="740335">
                <a:moveTo>
                  <a:pt x="0" y="0"/>
                </a:moveTo>
                <a:lnTo>
                  <a:pt x="740336" y="0"/>
                </a:lnTo>
                <a:lnTo>
                  <a:pt x="740336" y="740335"/>
                </a:lnTo>
                <a:lnTo>
                  <a:pt x="0" y="7403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0482" y="2034898"/>
            <a:ext cx="7848753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245107" y="4536024"/>
            <a:ext cx="6014193" cy="3382984"/>
          </a:xfrm>
          <a:custGeom>
            <a:avLst/>
            <a:gdLst/>
            <a:ahLst/>
            <a:cxnLst/>
            <a:rect r="r" b="b" t="t" l="l"/>
            <a:pathLst>
              <a:path h="3382984" w="6014193">
                <a:moveTo>
                  <a:pt x="0" y="0"/>
                </a:moveTo>
                <a:lnTo>
                  <a:pt x="6014193" y="0"/>
                </a:lnTo>
                <a:lnTo>
                  <a:pt x="6014193" y="3382984"/>
                </a:lnTo>
                <a:lnTo>
                  <a:pt x="0" y="33829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1051" r="0" b="-4105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9410" y="2767828"/>
            <a:ext cx="14990028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Modern e-commerce platforms generate vast amounts of fragmented data across multiple relational entities (Customers, Products, Orders, Transactions). The core challenges addressed by this project include:</a:t>
            </a:r>
          </a:p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61757" y="3989140"/>
            <a:ext cx="770757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Data Silos: Difficulty in consolidating high-volume transactional data with low-volume reference data for a holistic view.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1757" y="5105400"/>
            <a:ext cx="770757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Data Quality: Raw data often contains inconsistencies that prevent accurate business intelligence and machine learning.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1757" y="7543800"/>
            <a:ext cx="770757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Scalability: Existing systems often struggle to handle growing datasets while maintaining an Operational Data Store (ODS).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61757" y="6219825"/>
            <a:ext cx="770757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Latency in Insights: The lack of a structured pipeline (Medallion Architecture) makes it difficult to serve real-time analytics and predictive modeling simultaneously.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7373" y="8363372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b="true" sz="3281" u="sng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  <a:hlinkClick r:id="rId10" tooltip="https://www.kaggle.com/datasets/naelaqel/synthetic-e-commerce-relational-dataset"/>
              </a:rPr>
              <a:t>Data🔗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298663" y="4586198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6" y="0"/>
                </a:lnTo>
                <a:lnTo>
                  <a:pt x="2597326" y="2796582"/>
                </a:lnTo>
                <a:lnTo>
                  <a:pt x="0" y="27965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30482" y="2085188"/>
            <a:ext cx="7848753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Solution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06519" y="3522345"/>
            <a:ext cx="4815274" cy="5898442"/>
          </a:xfrm>
          <a:custGeom>
            <a:avLst/>
            <a:gdLst/>
            <a:ahLst/>
            <a:cxnLst/>
            <a:rect r="r" b="b" t="t" l="l"/>
            <a:pathLst>
              <a:path h="5898442" w="4815274">
                <a:moveTo>
                  <a:pt x="0" y="0"/>
                </a:moveTo>
                <a:lnTo>
                  <a:pt x="4815274" y="0"/>
                </a:lnTo>
                <a:lnTo>
                  <a:pt x="4815274" y="5898442"/>
                </a:lnTo>
                <a:lnTo>
                  <a:pt x="0" y="58984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84221" y="2865743"/>
            <a:ext cx="1499002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ol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on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ple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ment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sc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ab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le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ll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ion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Arch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ite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us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ing 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mo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ta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ac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k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to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tra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w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-comm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cti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ab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insights.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9802" y="3908267"/>
            <a:ext cx="770757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Mul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i-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urce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Inges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ling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both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high-volume and low-volume data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9802" y="4879817"/>
            <a:ext cx="1213991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Three-Tier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Process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ng: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    ○ Bronze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: Raw data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ingesti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n. 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   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○ Silver: Da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 cl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g,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dedupli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ati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,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relat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ion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gr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y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enfo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      ○ Gold: Aggregated business-level tables ready for consumption.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9802" y="7489667"/>
            <a:ext cx="952575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AI Integration: An integrated AI Agent/Dashboard to facilitate natural language querying and automated reporting.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9802" y="6518117"/>
            <a:ext cx="952575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●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Du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l-Purpos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Outpu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t: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Simu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ne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us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support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fo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at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V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is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u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z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ati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on (BI)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and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ML Serving (P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redictive 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naly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tics)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r>
              <a:rPr lang="en-US" sz="1999" spc="119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09946" y="4508464"/>
            <a:ext cx="15868107" cy="2828472"/>
          </a:xfrm>
          <a:custGeom>
            <a:avLst/>
            <a:gdLst/>
            <a:ahLst/>
            <a:cxnLst/>
            <a:rect r="r" b="b" t="t" l="l"/>
            <a:pathLst>
              <a:path h="2828472" w="15868107">
                <a:moveTo>
                  <a:pt x="0" y="0"/>
                </a:moveTo>
                <a:lnTo>
                  <a:pt x="15868108" y="0"/>
                </a:lnTo>
                <a:lnTo>
                  <a:pt x="15868108" y="2828473"/>
                </a:lnTo>
                <a:lnTo>
                  <a:pt x="0" y="28284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9" t="-2413" r="-54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994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Architecture (System Map)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4102" y="9292346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b="true" sz="3281" u="sng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  <a:hlinkClick r:id="rId9" tooltip="https://github.com/Passantalii/unified-ecommerce-etl-ecosystem/blob/main/system-design/architecture-map.md"/>
              </a:rPr>
              <a:t>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5598" y="2932419"/>
            <a:ext cx="1499002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Raw synthet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ic e-commerce da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is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inges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ed into a three-tiered lakehouse storage system (Bronze, Silver, Gold) and served via dashboards and an AI-driven we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app.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276899" y="3402001"/>
            <a:ext cx="11386352" cy="5446472"/>
          </a:xfrm>
          <a:custGeom>
            <a:avLst/>
            <a:gdLst/>
            <a:ahLst/>
            <a:cxnLst/>
            <a:rect r="r" b="b" t="t" l="l"/>
            <a:pathLst>
              <a:path h="5446472" w="11386352">
                <a:moveTo>
                  <a:pt x="0" y="0"/>
                </a:moveTo>
                <a:lnTo>
                  <a:pt x="11386352" y="0"/>
                </a:lnTo>
                <a:lnTo>
                  <a:pt x="11386352" y="5446472"/>
                </a:lnTo>
                <a:lnTo>
                  <a:pt x="0" y="54464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931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Sequential Diagram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4102" y="9292346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b="true" sz="3281" u="sng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  <a:hlinkClick r:id="rId9" tooltip="https://github.com/Passantalii/unified-ecommerce-etl-ecosystem/blob/main/system-design/sequence-diagram.md"/>
              </a:rPr>
              <a:t>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6779" y="2767636"/>
            <a:ext cx="14990028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di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agra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 rep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ents the execution flow of a sing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l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 data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b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atch 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rough 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he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co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sy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st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em: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802985" y="1829650"/>
            <a:ext cx="9456315" cy="7230141"/>
          </a:xfrm>
          <a:custGeom>
            <a:avLst/>
            <a:gdLst/>
            <a:ahLst/>
            <a:cxnLst/>
            <a:rect r="r" b="b" t="t" l="l"/>
            <a:pathLst>
              <a:path h="7230141" w="9456315">
                <a:moveTo>
                  <a:pt x="0" y="0"/>
                </a:moveTo>
                <a:lnTo>
                  <a:pt x="9456315" y="0"/>
                </a:lnTo>
                <a:lnTo>
                  <a:pt x="9456315" y="7230141"/>
                </a:lnTo>
                <a:lnTo>
                  <a:pt x="0" y="72301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6069" y="1834431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Modeling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35533" y="9126466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sz="3281">
                <a:solidFill>
                  <a:srgbClr val="FEFEFE"/>
                </a:solidFill>
                <a:latin typeface="DM Sans"/>
                <a:ea typeface="DM Sans"/>
                <a:cs typeface="DM Sans"/>
                <a:sym typeface="DM Sans"/>
                <a:hlinkClick r:id="rId9" tooltip="https://github.com/Passantalii/unified-ecommerce-etl-ecosystem/blob/main/system-design/data_model.md"/>
              </a:rPr>
              <a:t>🔗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081" y="6374541"/>
            <a:ext cx="6803016" cy="288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sng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Relationships: 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Fact_Sales links to Dim_Products via product_id. 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Fact_Sales links to Dim_Customers via customer_id. 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Dim_Products includes category hierarchies for deep-dive analysis.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8081" y="4406947"/>
            <a:ext cx="6582504" cy="144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221" spc="133" u="sng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Entities: 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Fact Tables: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Fact_Sale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s,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Fac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_T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rans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ac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tions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.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</a:t>
            </a: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 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Di</a:t>
            </a: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mension Tables: Dim_Customers, Dim_Products, Dim_Date, Dim_Location.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8081" y="2643561"/>
            <a:ext cx="6090597" cy="143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121" spc="127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 data model transitions from a highly normalized relational structure in the Silver layer to a denormalized Star Schema in the Gold layer.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828605" y="4341879"/>
            <a:ext cx="11301259" cy="4096706"/>
          </a:xfrm>
          <a:custGeom>
            <a:avLst/>
            <a:gdLst/>
            <a:ahLst/>
            <a:cxnLst/>
            <a:rect r="r" b="b" t="t" l="l"/>
            <a:pathLst>
              <a:path h="4096706" w="11301259">
                <a:moveTo>
                  <a:pt x="0" y="0"/>
                </a:moveTo>
                <a:lnTo>
                  <a:pt x="11301259" y="0"/>
                </a:lnTo>
                <a:lnTo>
                  <a:pt x="11301259" y="4096706"/>
                </a:lnTo>
                <a:lnTo>
                  <a:pt x="0" y="4096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994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Fabric Pipeline Governance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5598" y="2800704"/>
            <a:ext cx="1499002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 live look at our end-to-end Medallion orchestration, team ownership, and data stream automation inside Microsoft Fabric.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180725" y="3539845"/>
            <a:ext cx="13084230" cy="5920614"/>
          </a:xfrm>
          <a:custGeom>
            <a:avLst/>
            <a:gdLst/>
            <a:ahLst/>
            <a:cxnLst/>
            <a:rect r="r" b="b" t="t" l="l"/>
            <a:pathLst>
              <a:path h="5920614" w="13084230">
                <a:moveTo>
                  <a:pt x="0" y="0"/>
                </a:moveTo>
                <a:lnTo>
                  <a:pt x="13084230" y="0"/>
                </a:lnTo>
                <a:lnTo>
                  <a:pt x="13084230" y="5920614"/>
                </a:lnTo>
                <a:lnTo>
                  <a:pt x="0" y="5920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994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8986" y="2581899"/>
            <a:ext cx="1499002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Power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BI dashboard visualizing $15.09bn in total revenue alongside core metrics like average order value, total orders, and payment breakdown.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601885" y="3540114"/>
            <a:ext cx="13084230" cy="5912436"/>
          </a:xfrm>
          <a:custGeom>
            <a:avLst/>
            <a:gdLst/>
            <a:ahLst/>
            <a:cxnLst/>
            <a:rect r="r" b="b" t="t" l="l"/>
            <a:pathLst>
              <a:path h="5912436" w="13084230">
                <a:moveTo>
                  <a:pt x="0" y="0"/>
                </a:moveTo>
                <a:lnTo>
                  <a:pt x="13084230" y="0"/>
                </a:lnTo>
                <a:lnTo>
                  <a:pt x="13084230" y="5912436"/>
                </a:lnTo>
                <a:lnTo>
                  <a:pt x="0" y="59124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994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8986" y="2581899"/>
            <a:ext cx="14990028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 consumer intelligence Power BI dashboard profiling 1.04M total customers alongside core metrics like segment lifetime spend, retention status, and review ratings.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15" y="9258300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96807" y="2049903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18304" y="3711431"/>
            <a:ext cx="12848225" cy="5881906"/>
          </a:xfrm>
          <a:custGeom>
            <a:avLst/>
            <a:gdLst/>
            <a:ahLst/>
            <a:cxnLst/>
            <a:rect r="r" b="b" t="t" l="l"/>
            <a:pathLst>
              <a:path h="5881906" w="12848225">
                <a:moveTo>
                  <a:pt x="0" y="0"/>
                </a:moveTo>
                <a:lnTo>
                  <a:pt x="12848225" y="0"/>
                </a:lnTo>
                <a:lnTo>
                  <a:pt x="12848225" y="5881907"/>
                </a:lnTo>
                <a:lnTo>
                  <a:pt x="0" y="5881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994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2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 Agent Integration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5598" y="2800704"/>
            <a:ext cx="14990028" cy="11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The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Azure-hosted 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AI</a:t>
            </a:r>
            <a:r>
              <a:rPr lang="en-US" sz="2199" spc="131" strike="noStrike" u="none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 Agent translates natural language to SQL and delivers predictive insights by querying the lakehouse's refined data layers.</a:t>
            </a:r>
          </a:p>
          <a:p>
            <a:pPr algn="l" marL="0" indent="0" lvl="0">
              <a:lnSpc>
                <a:spcPts val="296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524585" y="9660013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sz="3281" u="sng">
                <a:solidFill>
                  <a:srgbClr val="FEFEFE"/>
                </a:solidFill>
                <a:latin typeface="DM Sans"/>
                <a:ea typeface="DM Sans"/>
                <a:cs typeface="DM Sans"/>
                <a:sym typeface="DM Sans"/>
                <a:hlinkClick r:id="rId9" tooltip="https://ecom-ftbhapetddcwdhb8.swedencentral-01.azurewebsites.net/api/dashboard"/>
              </a:rPr>
              <a:t>You can try it🔗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20587" y="8337684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01641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89459" y="7188043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420587" y="3575678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944923" y="8797992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329239" y="2576219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2" y="0"/>
                </a:lnTo>
                <a:lnTo>
                  <a:pt x="3575542" y="3575542"/>
                </a:lnTo>
                <a:lnTo>
                  <a:pt x="0" y="35755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126626" y="1943950"/>
            <a:ext cx="12705218" cy="6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4"/>
              </a:lnSpc>
            </a:pPr>
            <a:r>
              <a:rPr lang="en-US" b="true" sz="5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 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92009" y="3941501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Passant Ali Abu-Elkheir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92009" y="5330246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laudio Akram Ayoub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7339" y="3918220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Mariam Salah Abd Elsabour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7339" y="5330246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</a:t>
            </a: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areem Hussein Monir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92009" y="6718991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Moh</a:t>
            </a: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amed Elsayed Mansour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7339" y="6722745"/>
            <a:ext cx="561280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</a:t>
            </a:r>
            <a:r>
              <a:rPr lang="en-US" sz="3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aged Abdelrazik Ahmed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20587" y="8337684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542" y="-2580482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688802" y="4613506"/>
            <a:ext cx="10910396" cy="105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5"/>
              </a:lnSpc>
            </a:pPr>
            <a:r>
              <a:rPr lang="en-US" b="true" sz="83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14102" y="5983613"/>
            <a:ext cx="8459795" cy="42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1"/>
              </a:lnSpc>
            </a:pPr>
            <a:r>
              <a:rPr lang="en-US" b="true" sz="3281" u="sng">
                <a:solidFill>
                  <a:srgbClr val="737373"/>
                </a:solidFill>
                <a:latin typeface="DM Sans Bold"/>
                <a:ea typeface="DM Sans Bold"/>
                <a:cs typeface="DM Sans Bold"/>
                <a:sym typeface="DM Sans Bold"/>
                <a:hlinkClick r:id="rId6" tooltip="https://github.com/Passantalii/unified-ecommerce-etl-ecosystem"/>
              </a:rPr>
              <a:t>Github🔗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89459" y="7188043"/>
            <a:ext cx="5527385" cy="4140514"/>
          </a:xfrm>
          <a:custGeom>
            <a:avLst/>
            <a:gdLst/>
            <a:ahLst/>
            <a:cxnLst/>
            <a:rect r="r" b="b" t="t" l="l"/>
            <a:pathLst>
              <a:path h="4140514" w="5527385">
                <a:moveTo>
                  <a:pt x="0" y="0"/>
                </a:moveTo>
                <a:lnTo>
                  <a:pt x="5527385" y="0"/>
                </a:lnTo>
                <a:lnTo>
                  <a:pt x="5527385" y="4140514"/>
                </a:lnTo>
                <a:lnTo>
                  <a:pt x="0" y="414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3531195" cy="1829650"/>
            <a:chOff x="0" y="0"/>
            <a:chExt cx="1544180" cy="800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4193" cy="800100"/>
            </a:xfrm>
            <a:custGeom>
              <a:avLst/>
              <a:gdLst/>
              <a:ahLst/>
              <a:cxnLst/>
              <a:rect r="r" b="b" t="t" l="l"/>
              <a:pathLst>
                <a:path h="800100" w="1544193">
                  <a:moveTo>
                    <a:pt x="0" y="0"/>
                  </a:moveTo>
                  <a:lnTo>
                    <a:pt x="1544193" y="0"/>
                  </a:lnTo>
                  <a:lnTo>
                    <a:pt x="1544193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961691" y="219394"/>
            <a:ext cx="2917793" cy="1390862"/>
            <a:chOff x="0" y="0"/>
            <a:chExt cx="1650048" cy="7865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0111" cy="786511"/>
            </a:xfrm>
            <a:custGeom>
              <a:avLst/>
              <a:gdLst/>
              <a:ahLst/>
              <a:cxnLst/>
              <a:rect r="r" b="b" t="t" l="l"/>
              <a:pathLst>
                <a:path h="786511" w="1650111">
                  <a:moveTo>
                    <a:pt x="0" y="0"/>
                  </a:moveTo>
                  <a:lnTo>
                    <a:pt x="1650111" y="0"/>
                  </a:lnTo>
                  <a:lnTo>
                    <a:pt x="1650111" y="786511"/>
                  </a:lnTo>
                  <a:lnTo>
                    <a:pt x="0" y="78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-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420587" y="3575678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547864" y="8563521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02965" y="8797992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1329239" y="2576219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2" y="0"/>
                </a:lnTo>
                <a:lnTo>
                  <a:pt x="3575542" y="3575542"/>
                </a:lnTo>
                <a:lnTo>
                  <a:pt x="0" y="35755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DAHKLon69mc</dc:identifier>
  <dcterms:modified xsi:type="dcterms:W3CDTF">2011-08-01T06:04:30Z</dcterms:modified>
  <cp:revision>1</cp:revision>
  <dc:title>Unified E-Commerce ETL Ecosystem Presentation</dc:title>
</cp:coreProperties>
</file>